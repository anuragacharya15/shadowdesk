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37160" cy="411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3716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C2626"/>
                </a:solidFill>
              </a:defRPr>
            </a:pPr>
            <a:r>
              <a:t>INTERNSHIP PROJECT PRESENTATION</a:t>
            </a:r>
          </a:p>
          <a:p>
            <a:pPr>
              <a:spcAft>
                <a:spcPts val="800"/>
              </a:spcAft>
              <a:defRPr sz="4600" b="1">
                <a:solidFill>
                  <a:srgbClr val="FFFFFF"/>
                </a:solidFill>
              </a:defRPr>
            </a:pPr>
            <a:r>
              <a:t>ShadowDesk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</a:defRPr>
            </a:pPr>
            <a:r>
              <a:t>Internal Helpdesk &amp; Support Ticket Management System</a:t>
            </a:r>
          </a:p>
          <a:p>
            <a:pPr>
              <a:lnSpc>
                <a:spcPct val="125000"/>
              </a:lnSpc>
              <a:defRPr sz="1300">
                <a:solidFill>
                  <a:srgbClr val="CBD5E1"/>
                </a:solidFill>
              </a:defRPr>
            </a:pPr>
            <a:r>
              <a:t>A modular Core Java application engineered using Object-Oriented Programming, state-machine lifecycle validation, and crash-resilient file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6576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DC2626"/>
                </a:solidFill>
              </a:defRPr>
            </a:pPr>
            <a:r>
              <a:t>PROJECT METADATA</a:t>
            </a:r>
          </a:p>
          <a:p>
            <a:pPr>
              <a:spcAft>
                <a:spcPts val="600"/>
              </a:spcAft>
              <a:defRPr b="1" sz="1100">
                <a:solidFill>
                  <a:srgbClr val="FFFFFF"/>
                </a:solidFill>
              </a:defRPr>
            </a:pPr>
            <a:r>
              <a:t>Organization: </a:t>
            </a:r>
            <a:r>
              <a:rPr b="0">
                <a:solidFill>
                  <a:srgbClr val="E2E8F0"/>
                </a:solidFill>
              </a:rPr>
              <a:t>Shadowfox</a:t>
            </a:r>
          </a:p>
          <a:p>
            <a:pPr>
              <a:spcAft>
                <a:spcPts val="600"/>
              </a:spcAft>
              <a:defRPr b="1" sz="1100">
                <a:solidFill>
                  <a:srgbClr val="FFFFFF"/>
                </a:solidFill>
              </a:defRPr>
            </a:pPr>
            <a:r>
              <a:t>Student Name: </a:t>
            </a:r>
            <a:r>
              <a:rPr b="0">
                <a:solidFill>
                  <a:srgbClr val="E2E8F0"/>
                </a:solidFill>
              </a:rPr>
              <a:t>Anurag Acharya</a:t>
            </a:r>
          </a:p>
          <a:p>
            <a:pPr>
              <a:spcAft>
                <a:spcPts val="600"/>
              </a:spcAft>
              <a:defRPr b="1" sz="1100">
                <a:solidFill>
                  <a:srgbClr val="FFFFFF"/>
                </a:solidFill>
              </a:defRPr>
            </a:pPr>
            <a:r>
              <a:t>College: </a:t>
            </a:r>
            <a:r>
              <a:rPr b="0">
                <a:solidFill>
                  <a:srgbClr val="E2E8F0"/>
                </a:solidFill>
              </a:rPr>
              <a:t>JECRC University</a:t>
            </a:r>
          </a:p>
          <a:p>
            <a:pPr>
              <a:spcAft>
                <a:spcPts val="600"/>
              </a:spcAft>
              <a:defRPr b="1" sz="1100">
                <a:solidFill>
                  <a:srgbClr val="FFFFFF"/>
                </a:solidFill>
              </a:defRPr>
            </a:pPr>
            <a:r>
              <a:t>Department: </a:t>
            </a:r>
            <a:r>
              <a:rPr b="0">
                <a:solidFill>
                  <a:srgbClr val="E2E8F0"/>
                </a:solidFill>
              </a:rPr>
              <a:t>Computer Science &amp; Eng. (CSE)</a:t>
            </a:r>
          </a:p>
          <a:p>
            <a:pPr>
              <a:spcAft>
                <a:spcPts val="600"/>
              </a:spcAft>
              <a:defRPr b="1" sz="1100">
                <a:solidFill>
                  <a:srgbClr val="FFFFFF"/>
                </a:solidFill>
              </a:defRPr>
            </a:pPr>
            <a:r>
              <a:t>Mentor: </a:t>
            </a:r>
            <a:r>
              <a:rPr b="0">
                <a:solidFill>
                  <a:srgbClr val="E2E8F0"/>
                </a:solidFill>
              </a:rPr>
              <a:t>[Mentor Name]</a:t>
            </a:r>
          </a:p>
          <a:p>
            <a:pPr>
              <a:spcAft>
                <a:spcPts val="600"/>
              </a:spcAft>
              <a:defRPr b="1" sz="1100">
                <a:solidFill>
                  <a:srgbClr val="FFFFFF"/>
                </a:solidFill>
              </a:defRPr>
            </a:pPr>
            <a:r>
              <a:t>Internship Duration: </a:t>
            </a:r>
            <a:r>
              <a:rPr b="0">
                <a:solidFill>
                  <a:srgbClr val="E2E8F0"/>
                </a:solidFill>
              </a:rPr>
              <a:t>01/10/2026 – 31/10/2026</a:t>
            </a:r>
          </a:p>
          <a:p>
            <a:pPr>
              <a:spcAft>
                <a:spcPts val="600"/>
              </a:spcAft>
              <a:defRPr b="1" sz="1100">
                <a:solidFill>
                  <a:srgbClr val="FFFFFF"/>
                </a:solidFill>
              </a:defRPr>
            </a:pPr>
            <a:r>
              <a:t>Submission Date: </a:t>
            </a:r>
            <a:r>
              <a:rPr b="0">
                <a:solidFill>
                  <a:srgbClr val="E2E8F0"/>
                </a:solidFill>
              </a:rPr>
              <a:t>30/10/2026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CONTEXT &amp; GOALS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ShadowDesk | Internship Project – Shadowfox | Student: Anurag Acharya (JECRC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C2626"/>
                </a:solidFill>
              </a:defRPr>
            </a:pPr>
            <a:r>
              <a:t>THE PROBLEM STATEMENT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Operational Challenges in Internal Support: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Unstructured Requests: </a:t>
            </a:r>
            <a:r>
              <a:rPr b="0">
                <a:solidFill>
                  <a:srgbClr val="64748B"/>
                </a:solidFill>
              </a:rPr>
              <a:t>Internal support queries raised informally via chat or word-of-mouth lead to lost inquiries and zero audit trail.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Lack of Priority Visibility: </a:t>
            </a:r>
            <a:r>
              <a:rPr b="0">
                <a:solidFill>
                  <a:srgbClr val="64748B"/>
                </a:solidFill>
              </a:rPr>
              <a:t>Urgent technical or logistics blockers get lost among low-priority routine requests without standard classification.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No Lifecycle Accountability: </a:t>
            </a:r>
            <a:r>
              <a:rPr b="0">
                <a:solidFill>
                  <a:srgbClr val="64748B"/>
                </a:solidFill>
              </a:rPr>
              <a:t>Without enforced lifecycle transitions, tickets linger indefinitely without assigned ownership or documented resolutions.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Data Volatility &amp; Inconsistency: </a:t>
            </a:r>
            <a:r>
              <a:rPr b="0">
                <a:solidFill>
                  <a:srgbClr val="64748B"/>
                </a:solidFill>
              </a:rPr>
              <a:t>Ad-hoc tracking lacks persistent storage, making past solutions impossible to reference for repeated incidents.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PROJECT OBJECTIVE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Purpose &amp; Scope of ShadowDesk:</a:t>
            </a:r>
          </a:p>
          <a:p>
            <a:pPr>
              <a:spcAft>
                <a:spcPts val="700"/>
              </a:spcAft>
              <a:defRPr b="1" sz="1100">
                <a:solidFill>
                  <a:srgbClr val="0F172A"/>
                </a:solidFill>
              </a:defRPr>
            </a:pPr>
            <a:r>
              <a:t>✔ Automated Issue Tracking: </a:t>
            </a:r>
            <a:r>
              <a:rPr b="0">
                <a:solidFill>
                  <a:srgbClr val="64748B"/>
                </a:solidFill>
              </a:rPr>
              <a:t>Provide a reliable, modular Core Java platform to log internal support tickets with unique formatted IDs (SF-1001, SF-1002).</a:t>
            </a:r>
          </a:p>
          <a:p>
            <a:pPr>
              <a:spcAft>
                <a:spcPts val="700"/>
              </a:spcAft>
              <a:defRPr b="1" sz="1100">
                <a:solidFill>
                  <a:srgbClr val="0F172A"/>
                </a:solidFill>
              </a:defRPr>
            </a:pPr>
            <a:r>
              <a:t>✔ Enforce Strict Business Rules: </a:t>
            </a:r>
            <a:r>
              <a:rPr b="0">
                <a:solidFill>
                  <a:srgbClr val="64748B"/>
                </a:solidFill>
              </a:rPr>
              <a:t>Implement a formal lifecycle state-machine preventing illegal status moves (e.g., closing an open ticket).</a:t>
            </a:r>
          </a:p>
          <a:p>
            <a:pPr>
              <a:spcAft>
                <a:spcPts val="700"/>
              </a:spcAft>
              <a:defRPr b="1" sz="1100">
                <a:solidFill>
                  <a:srgbClr val="0F172A"/>
                </a:solidFill>
              </a:defRPr>
            </a:pPr>
            <a:r>
              <a:t>✔ Resolution &amp; Audit Logging: </a:t>
            </a:r>
            <a:r>
              <a:rPr b="0">
                <a:solidFill>
                  <a:srgbClr val="64748B"/>
                </a:solidFill>
              </a:rPr>
              <a:t>Mandate clear resolution notes before ticket resolution and retain full resolution history upon reopening.</a:t>
            </a:r>
          </a:p>
          <a:p>
            <a:pPr>
              <a:spcAft>
                <a:spcPts val="700"/>
              </a:spcAft>
              <a:defRPr b="1" sz="1100">
                <a:solidFill>
                  <a:srgbClr val="0F172A"/>
                </a:solidFill>
              </a:defRPr>
            </a:pPr>
            <a:r>
              <a:t>✔ Dynamic Performance Metrics: </a:t>
            </a:r>
            <a:r>
              <a:rPr b="0">
                <a:solidFill>
                  <a:srgbClr val="64748B"/>
                </a:solidFill>
              </a:rPr>
              <a:t>Aggregate real-time metrics across status and priority levels dynamically without hard-coded counters.</a:t>
            </a:r>
          </a:p>
          <a:p>
            <a:pPr>
              <a:spcAft>
                <a:spcPts val="700"/>
              </a:spcAft>
              <a:defRPr b="1" sz="1100">
                <a:solidFill>
                  <a:srgbClr val="0F172A"/>
                </a:solidFill>
              </a:defRPr>
            </a:pPr>
            <a:r>
              <a:t>✔ Crash-Safe Persistence: </a:t>
            </a:r>
            <a:r>
              <a:rPr b="0">
                <a:solidFill>
                  <a:srgbClr val="64748B"/>
                </a:solidFill>
              </a:rPr>
              <a:t>Persist all ticket states into standard RFC-4180 CSV files with atomic temporary-file replacement.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SYSTEM CAPABILITIES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Key Implemented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ShadowDesk | Internship Project – Shadowfox | Student: Anurag Acharya (JECRC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444752"/>
            <a:ext cx="10972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SF-1001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221284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Sequential Unique IDs</a:t>
            </a:r>
          </a:p>
          <a:p>
            <a:pPr>
              <a:lnSpc>
                <a:spcPct val="120000"/>
              </a:lnSpc>
              <a:defRPr sz="1000">
                <a:solidFill>
                  <a:srgbClr val="64748B"/>
                </a:solidFill>
              </a:defRPr>
            </a:pPr>
            <a:r>
              <a:t>Generates SF-1001, SF-1002 sequentially. Automatically recovers highest ID counter on restart from storage to prevent duplicates.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280160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21024" y="1444752"/>
            <a:ext cx="1097280" cy="2926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1828800"/>
            <a:ext cx="221284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Category &amp; Priority Enums</a:t>
            </a:r>
          </a:p>
          <a:p>
            <a:pPr>
              <a:lnSpc>
                <a:spcPct val="120000"/>
              </a:lnSpc>
              <a:defRPr sz="1000">
                <a:solidFill>
                  <a:srgbClr val="64748B"/>
                </a:solidFill>
              </a:defRPr>
            </a:pPr>
            <a:r>
              <a:t>Categorizes tickets under Technical, Delivery Operations, Account Access, Hardware, or Other; prioritized as Low, Medium, High, or Critical.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280160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1444752"/>
            <a:ext cx="10972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828800"/>
            <a:ext cx="221284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State Machine Lifecycle</a:t>
            </a:r>
          </a:p>
          <a:p>
            <a:pPr>
              <a:lnSpc>
                <a:spcPct val="120000"/>
              </a:lnSpc>
              <a:defRPr sz="1000">
                <a:solidFill>
                  <a:srgbClr val="64748B"/>
                </a:solidFill>
              </a:defRPr>
            </a:pPr>
            <a:r>
              <a:t>Strictly enforces OPEN -&gt; IN_PROGRESS -&gt; RESOLVED -&gt; CLOSED. Directly blocks illegal status jumps at the business service level.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280160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70848" y="1444752"/>
            <a:ext cx="1097280" cy="2926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1828800"/>
            <a:ext cx="221284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Resolution &amp; Reopen Audit</a:t>
            </a:r>
          </a:p>
          <a:p>
            <a:pPr>
              <a:lnSpc>
                <a:spcPct val="120000"/>
              </a:lnSpc>
              <a:defRPr sz="1000">
                <a:solidFill>
                  <a:srgbClr val="64748B"/>
                </a:solidFill>
              </a:defRPr>
            </a:pPr>
            <a:r>
              <a:t>Mandatory non-blank notes required on resolution. Reopening a closed/resolved ticket preserves past resolution history with timestamps.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4005072"/>
            <a:ext cx="10972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221284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Multi-Criteria Search &amp; Filter</a:t>
            </a:r>
          </a:p>
          <a:p>
            <a:pPr>
              <a:lnSpc>
                <a:spcPct val="120000"/>
              </a:lnSpc>
              <a:defRPr sz="1000">
                <a:solidFill>
                  <a:srgbClr val="64748B"/>
                </a:solidFill>
              </a:defRPr>
            </a:pPr>
            <a:r>
              <a:t>Provides case-insensitive lookup by Ticket ID, plus instant filtering by Status, Priority, Category, or Requester name.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6432" y="3840480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21024" y="4005072"/>
            <a:ext cx="1097280" cy="2926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4389120"/>
            <a:ext cx="221284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Dynamic Dashboard &amp; Analytics</a:t>
            </a:r>
          </a:p>
          <a:p>
            <a:pPr>
              <a:lnSpc>
                <a:spcPct val="120000"/>
              </a:lnSpc>
              <a:defRPr sz="1000">
                <a:solidFill>
                  <a:srgbClr val="64748B"/>
                </a:solidFill>
              </a:defRPr>
            </a:pPr>
            <a:r>
              <a:t>Dynamic calculation of total tickets, open, in-progress, resolved, closed, high-priority, and critical counts directly from memory.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840480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45936" y="4005072"/>
            <a:ext cx="10972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DEFENSIVE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4389120"/>
            <a:ext cx="221284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Robust Input Validation</a:t>
            </a:r>
          </a:p>
          <a:p>
            <a:pPr>
              <a:lnSpc>
                <a:spcPct val="120000"/>
              </a:lnSpc>
              <a:defRPr sz="1000">
                <a:solidFill>
                  <a:srgbClr val="64748B"/>
                </a:solidFill>
              </a:defRPr>
            </a:pPr>
            <a:r>
              <a:t>Line-based console input reader handles empty inputs, non-numeric values, and out-of-range choices without application crashes.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06256" y="3840480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848" y="4005072"/>
            <a:ext cx="1097280" cy="2926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4389120"/>
            <a:ext cx="221284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Atomic CSV Persistence</a:t>
            </a:r>
          </a:p>
          <a:p>
            <a:pPr>
              <a:lnSpc>
                <a:spcPct val="120000"/>
              </a:lnSpc>
              <a:defRPr sz="1000">
                <a:solidFill>
                  <a:srgbClr val="64748B"/>
                </a:solidFill>
              </a:defRPr>
            </a:pPr>
            <a:r>
              <a:t>RFC-4180 compliant CSV storage with quoting and escaping. Uses atomic .tmp file replacement to guarantee zero data corruption.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TECHNICAL FOUNDATION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Core Java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ShadowDesk | Internship Project – Shadowfox | Student: Anurag Acharya (JECRC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463040"/>
            <a:ext cx="146304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Core Java &amp; Zero Dependencies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Java 8+ Compatibility: Built on standard Java SE with no external frameworks or libraries.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java.time API: Uses immutable LocalDateTime and DateTimeFormatter for ISO persistence &amp; UI formatting.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Thread-Safe Concurrency: Utilizes AtomicInteger for race-condition-free ID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1463040"/>
            <a:ext cx="146304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OOP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Object-Oriented Design (OOP)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Strong Encapsulation: All entity fields private; state mutations guarded by domain methods (touch, updateDetails).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Layered Architecture: Strict separation into Model, Service, Repository, Utility, and Presentation layers.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Cohesive Classes: Single-responsibility design with focused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4023360"/>
            <a:ext cx="146304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STRUCTURES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348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Collections &amp; Domain Enums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LinkedHashMap: Guarantees O(1) ticket lookups by ID while preserving chronological creation order.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ArrayList: Used for thread-safe defensive copies during filtering and multi-attribute searches.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Rich Enums: Category, Priority, and Status enums encapsulate labels and reverse-lookup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4023360"/>
            <a:ext cx="146304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I/O &amp; 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348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Robust I/O &amp; Exception Handling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Custom Checked Exceptions: TicketNotFoundException and InvalidTicketOperationException for clean error handling.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RFC-4180 CSV Engine: Custom parser supporting quotes, commas, and multiline descriptions.</a:t>
            </a:r>
          </a:p>
          <a:p>
            <a:pPr>
              <a:spcAft>
                <a:spcPts val="300"/>
              </a:spcAft>
              <a:defRPr sz="1050">
                <a:solidFill>
                  <a:srgbClr val="64748B"/>
                </a:solidFill>
              </a:defRPr>
            </a:pPr>
            <a:r>
              <a:t>• Atomic Temp-File Swapping: Eliminates risk of corrupted storage during power loss or I/O failure.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MODULAR DESIGN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Layered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ShadowDesk | Internship Project – Shadowfox | Student: Anurag Acharya (JECRC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420624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109728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USER INTERFACE LAYER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Main.java (Console UI) | InputUtil.java</a:t>
            </a:r>
          </a:p>
        </p:txBody>
      </p:sp>
      <p:sp>
        <p:nvSpPr>
          <p:cNvPr id="8" name="Down Arrow 7"/>
          <p:cNvSpPr/>
          <p:nvPr/>
        </p:nvSpPr>
        <p:spPr>
          <a:xfrm>
            <a:off x="2651760" y="2084832"/>
            <a:ext cx="365760" cy="32004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420624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109728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BUSINESS SERVICE LAYER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TicketService.java (Workflow, Rules, Metrics)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651760" y="3273552"/>
            <a:ext cx="365760" cy="32004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4206240" cy="7315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109728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PERSISTENCE REPOSITORY LAYER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TicketRepository.java (RFC-4180 CSV Engine)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651760" y="4462272"/>
            <a:ext cx="365760" cy="32004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420624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bIns="109728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DATA STORAGE LAYER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data/tickets.csv (Atomic Local File Storage)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280160"/>
            <a:ext cx="6126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46304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C2626"/>
                </a:solidFill>
              </a:defRPr>
            </a:pPr>
            <a:r>
              <a:t>COMPONENT RESPONSIBILITIES &amp; DECOUPLING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Presentation Layer (Main.java): </a:t>
            </a:r>
            <a:r>
              <a:rPr b="0">
                <a:solidFill>
                  <a:srgbClr val="64748B"/>
                </a:solidFill>
              </a:rPr>
              <a:t>Coordinates the 12-item menu, processes user commands, and formats table output. Completely decoupled from file reading or storage logic.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Service Layer (TicketService.java): </a:t>
            </a:r>
            <a:r>
              <a:rPr b="0">
                <a:solidFill>
                  <a:srgbClr val="64748B"/>
                </a:solidFill>
              </a:rPr>
              <a:t>Acts as the business authority. Manages in-memory LinkedHashMap, validates status transitions, prevents duplicate ticket IDs, and computes dynamic statistics.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Repository Layer (TicketRepository.java): </a:t>
            </a:r>
            <a:r>
              <a:rPr b="0">
                <a:solidFill>
                  <a:srgbClr val="64748B"/>
                </a:solidFill>
              </a:rPr>
              <a:t>Encapsulates file persistence. Parses RFC-4180 CSV, handles multiline descriptions, and writes atomically using temporary files (.tmp) to protect against corruption.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Domain Entities &amp; Enums (model/*): </a:t>
            </a:r>
            <a:r>
              <a:rPr b="0">
                <a:solidFill>
                  <a:srgbClr val="64748B"/>
                </a:solidFill>
              </a:rPr>
              <a:t>Ticket.java encapsulates fields, audit timestamps (createdAt, updatedAt), and validation. Enums define valid categories, priorities, and statuses.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Utility Support (util/*): </a:t>
            </a:r>
            <a:r>
              <a:rPr b="0">
                <a:solidFill>
                  <a:srgbClr val="64748B"/>
                </a:solidFill>
              </a:rPr>
              <a:t>InputUtil prevents Scanner newline skipping bugs and handles bad inputs. TicketIdGenerator synchronizes sequential IDs across application restarts.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STATE MACHINE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Ticket Lifecycle &amp; Status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ShadowDesk | Internship Project – Shadowfox | Student: Anurag Acharya (JECRC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450592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450592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284C7"/>
                </a:solidFill>
              </a:defRPr>
            </a:pPr>
            <a:r>
              <a:t>OPEN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New issue logged by employee; initial default state.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27832" y="2057400"/>
            <a:ext cx="18288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1371600"/>
            <a:ext cx="2450592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371600"/>
            <a:ext cx="2450592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783080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D97706"/>
                </a:solidFill>
              </a:defRPr>
            </a:pPr>
            <a:r>
              <a:t>IN_PROGRESS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Assigned support agent initiates troubleshooting.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52744" y="2057400"/>
            <a:ext cx="18288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1344" y="1371600"/>
            <a:ext cx="2450592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371600"/>
            <a:ext cx="2450592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783080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6A34A"/>
                </a:solidFill>
              </a:defRPr>
            </a:pPr>
            <a:r>
              <a:t>RESOLVED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Issue resolved; mandatory resolution notes recorded.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77656" y="2057400"/>
            <a:ext cx="18288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06256" y="1371600"/>
            <a:ext cx="2450592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6256" y="1371600"/>
            <a:ext cx="245059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CLOSURE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1783080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F172A"/>
                </a:solidFill>
              </a:defRPr>
            </a:pPr>
            <a:r>
              <a:t>CLOSED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Terminal closed state; only permitted after resolution.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91840"/>
            <a:ext cx="52120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290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C2626"/>
                </a:solidFill>
              </a:defRPr>
            </a:pPr>
            <a:r>
              <a:t>ENFORCED STATUS TRANSITION RULES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OPEN -&gt; IN_PROGRESS / RESOLVED: </a:t>
            </a:r>
            <a:r>
              <a:rPr b="0">
                <a:solidFill>
                  <a:srgbClr val="64748B"/>
                </a:solidFill>
              </a:rPr>
              <a:t>Permitted. Quick issues can be directly resolved with notes.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IN_PROGRESS -&gt; RESOLVED: </a:t>
            </a:r>
            <a:r>
              <a:rPr b="0">
                <a:solidFill>
                  <a:srgbClr val="64748B"/>
                </a:solidFill>
              </a:rPr>
              <a:t>Permitted once resolution actions are documented.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RESOLVED -&gt; CLOSED: </a:t>
            </a:r>
            <a:r>
              <a:rPr b="0">
                <a:solidFill>
                  <a:srgbClr val="64748B"/>
                </a:solidFill>
              </a:rPr>
              <a:t>Strict requirement: Only resolved tickets can be closed.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ILLEGAL: OPEN / IN_PROGRESS -&gt; CLOSED: </a:t>
            </a:r>
            <a:r>
              <a:rPr b="0">
                <a:solidFill>
                  <a:srgbClr val="64748B"/>
                </a:solidFill>
              </a:rPr>
              <a:t>Strictly blocked. Throws InvalidTicketOperationException.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ILLEGAL: CLOSED -&gt; IN_PROGRESS: </a:t>
            </a:r>
            <a:r>
              <a:rPr b="0">
                <a:solidFill>
                  <a:srgbClr val="64748B"/>
                </a:solidFill>
              </a:rPr>
              <a:t>Strictly blocked. A closed ticket must be reopened first.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91840"/>
            <a:ext cx="52120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REOPENING POLICY &amp; AUDIT RETENTION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✔ Permitted Reopening: </a:t>
            </a:r>
            <a:r>
              <a:rPr b="0">
                <a:solidFill>
                  <a:srgbClr val="64748B"/>
                </a:solidFill>
              </a:rPr>
              <a:t>Both RESOLVED and CLOSED tickets can be reopened by requesters or support agents.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✔ State Reset: </a:t>
            </a:r>
            <a:r>
              <a:rPr b="0">
                <a:solidFill>
                  <a:srgbClr val="64748B"/>
                </a:solidFill>
              </a:rPr>
              <a:t>Reopening immediately transitions the ticket status back to OPEN.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✔ Preservation of History: </a:t>
            </a:r>
            <a:r>
              <a:rPr b="0">
                <a:solidFill>
                  <a:srgbClr val="64748B"/>
                </a:solidFill>
              </a:rPr>
              <a:t>Previous resolution notes are not erased. They are archived and prefixed into the audit trail.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✔ Optional Reopen Reason: </a:t>
            </a:r>
            <a:r>
              <a:rPr b="0">
                <a:solidFill>
                  <a:srgbClr val="64748B"/>
                </a:solidFill>
              </a:rPr>
              <a:t>Users can append an optional reopening reason explaining why further investigation is required.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✔ Timestamp Tracking: </a:t>
            </a:r>
            <a:r>
              <a:rPr b="0">
                <a:solidFill>
                  <a:srgbClr val="64748B"/>
                </a:solidFill>
              </a:rPr>
              <a:t>Updates the updatedAt timestamp while maintaining the original createdAt creation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QUALITY ASSURANCE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Validation, Testing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ShadowDesk | Internship Project – Shadowfox | Student: Anurag Acharya (JECRC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49377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C2626"/>
                </a:solidFill>
              </a:defRPr>
            </a:pPr>
            <a:r>
              <a:t>INPUT VALIDATION &amp; DEFENSIVE CONTROLS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Line-Based Input (InputUtil): </a:t>
            </a:r>
            <a:r>
              <a:rPr b="0">
                <a:solidFill>
                  <a:srgbClr val="64748B"/>
                </a:solidFill>
              </a:rPr>
              <a:t>Exclusively reads full lines via nextLine() to prevent Scanner integer newline skipping bugs.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Non-Blank Enforcement: </a:t>
            </a:r>
            <a:r>
              <a:rPr b="0">
                <a:solidFill>
                  <a:srgbClr val="64748B"/>
                </a:solidFill>
              </a:rPr>
              <a:t>Rejects empty or whitespace-only strings for titles, descriptions, requesters, and resolution notes.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Resilient Numeric Parsing: </a:t>
            </a:r>
            <a:r>
              <a:rPr b="0">
                <a:solidFill>
                  <a:srgbClr val="64748B"/>
                </a:solidFill>
              </a:rPr>
              <a:t>Safely parses menu and option integers using Integer.parseInt() within a try-catch loop without crashing.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Enum Boundary Checks: </a:t>
            </a:r>
            <a:r>
              <a:rPr b="0">
                <a:solidFill>
                  <a:srgbClr val="64748B"/>
                </a:solidFill>
              </a:rPr>
              <a:t>Category and Priority selections validated against numbered menu ranges (1 to 5, 1 to 4).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Safe Case-Insensitive Lookup: </a:t>
            </a:r>
            <a:r>
              <a:rPr b="0">
                <a:solidFill>
                  <a:srgbClr val="64748B"/>
                </a:solidFill>
              </a:rPr>
              <a:t>Searching by ticket ID (e.g., sf-1001 or SF-1001) catches TicketNotFoundException cleanly.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8016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4630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6A34A"/>
                </a:solidFill>
              </a:defRPr>
            </a:pPr>
            <a:r>
              <a:t>AUTOMATED TEST SUITE EXECUTION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17/17 Verification Scenarios Passed Successfully</a:t>
            </a:r>
          </a:p>
          <a:p>
            <a:pPr>
              <a:spcAft>
                <a:spcPts val="500"/>
              </a:spcAft>
              <a:defRPr b="1" sz="1000">
                <a:solidFill>
                  <a:srgbClr val="16A34A"/>
                </a:solidFill>
              </a:defRPr>
            </a:pPr>
            <a:r>
              <a:t>✔ TEST 1 - 4: </a:t>
            </a:r>
            <a:r>
              <a:rPr b="0">
                <a:solidFill>
                  <a:srgbClr val="64748B"/>
                </a:solidFill>
              </a:rPr>
              <a:t>Ticket creation, blank title rejection, invalid priority handling, and unique sequential ID verification.</a:t>
            </a:r>
          </a:p>
          <a:p>
            <a:pPr>
              <a:spcAft>
                <a:spcPts val="500"/>
              </a:spcAft>
              <a:defRPr b="1" sz="1000">
                <a:solidFill>
                  <a:srgbClr val="16A34A"/>
                </a:solidFill>
              </a:defRPr>
            </a:pPr>
            <a:r>
              <a:t>✔ TEST 5 - 7: </a:t>
            </a:r>
            <a:r>
              <a:rPr b="0">
                <a:solidFill>
                  <a:srgbClr val="64748B"/>
                </a:solidFill>
              </a:rPr>
              <a:t>Case-insensitive ID search, nonexistent ticket safe handling, and atomic field updates with timestamp refresh.</a:t>
            </a:r>
          </a:p>
          <a:p>
            <a:pPr>
              <a:spcAft>
                <a:spcPts val="500"/>
              </a:spcAft>
              <a:defRPr b="1" sz="1000">
                <a:solidFill>
                  <a:srgbClr val="16A34A"/>
                </a:solidFill>
              </a:defRPr>
            </a:pPr>
            <a:r>
              <a:t>✔ TEST 8 - 11: </a:t>
            </a:r>
            <a:r>
              <a:rPr b="0">
                <a:solidFill>
                  <a:srgbClr val="64748B"/>
                </a:solidFill>
              </a:rPr>
              <a:t>Resolution notes enforcement, rejection of closing OPEN tickets, full lifecycle transition, and invalid status jump rejection.</a:t>
            </a:r>
          </a:p>
          <a:p>
            <a:pPr>
              <a:spcAft>
                <a:spcPts val="500"/>
              </a:spcAft>
              <a:defRPr b="1" sz="1000">
                <a:solidFill>
                  <a:srgbClr val="16A34A"/>
                </a:solidFill>
              </a:defRPr>
            </a:pPr>
            <a:r>
              <a:t>✔ TEST 12 - 14: </a:t>
            </a:r>
            <a:r>
              <a:rPr b="0">
                <a:solidFill>
                  <a:srgbClr val="64748B"/>
                </a:solidFill>
              </a:rPr>
              <a:t>Reopening closed tickets, multi-attribute filtering, and dynamic dashboard metrics calculation.</a:t>
            </a:r>
          </a:p>
          <a:p>
            <a:pPr>
              <a:spcAft>
                <a:spcPts val="500"/>
              </a:spcAft>
              <a:defRPr b="1" sz="1000">
                <a:solidFill>
                  <a:srgbClr val="16A34A"/>
                </a:solidFill>
              </a:defRPr>
            </a:pPr>
            <a:r>
              <a:t>✔ TEST 15 - 17: </a:t>
            </a:r>
            <a:r>
              <a:rPr b="0">
                <a:solidFill>
                  <a:srgbClr val="64748B"/>
                </a:solidFill>
              </a:rPr>
              <a:t>Storage persistence across restarts, bad console input resilience, and corruption protection on load failure.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5486400"/>
            <a:ext cx="5029200" cy="438912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50" b="1">
                <a:solidFill>
                  <a:srgbClr val="16A34A"/>
                </a:solidFill>
              </a:defRPr>
            </a:pPr>
            <a:r>
              <a:t>Verified via test.bat (TicketSystemTestSuite.java) – 100% Pass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SUMMARY &amp; OUTLOOK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ShadowDesk | Internship Project – Shadowfox | Student: Anurag Acharya (JECRC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C2626"/>
                </a:solidFill>
              </a:defRPr>
            </a:pPr>
            <a:r>
              <a:t>INTERNSHIP PROJECT CONCLUSION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Engineering Clean Core Java: </a:t>
            </a:r>
            <a:r>
              <a:rPr b="0">
                <a:solidFill>
                  <a:srgbClr val="64748B"/>
                </a:solidFill>
              </a:rPr>
              <a:t>Successfully developed a robust, production-quality helpdesk system using Core Java principles without third-party runtime dependencies.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Adherence to OOP Best Practices: </a:t>
            </a:r>
            <a:r>
              <a:rPr b="0">
                <a:solidFill>
                  <a:srgbClr val="64748B"/>
                </a:solidFill>
              </a:rPr>
              <a:t>Demonstrated rigorous encapsulation, domain state modeling, decoupled modular architecture, and custom domain exceptions.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Data Safety &amp; Robustness: </a:t>
            </a:r>
            <a:r>
              <a:rPr b="0">
                <a:solidFill>
                  <a:srgbClr val="64748B"/>
                </a:solidFill>
              </a:rPr>
              <a:t>Implemented crash-safe RFC-4180 CSV persistence with atomic temporary file swapping and recovery of ticket sequence counters.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Practical Business Workflows: </a:t>
            </a:r>
            <a:r>
              <a:rPr b="0">
                <a:solidFill>
                  <a:srgbClr val="64748B"/>
                </a:solidFill>
              </a:rPr>
              <a:t>Emulated realistic logistics and tech support workflows with state machine validation, audit trails, and live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FUTURE ENHANCEMENTS (PLANNED SCOPE)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🚀 Relational Database Integration: </a:t>
            </a:r>
            <a:r>
              <a:rPr b="0">
                <a:solidFill>
                  <a:srgbClr val="64748B"/>
                </a:solidFill>
              </a:rPr>
              <a:t>Transition from flat CSV storage to enterprise RDBMS (PostgreSQL / MySQL) with transaction management and connection pooling.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🚀 Role-Based Authentication (RBAC): </a:t>
            </a:r>
            <a:r>
              <a:rPr b="0">
                <a:solidFill>
                  <a:srgbClr val="64748B"/>
                </a:solidFill>
              </a:rPr>
              <a:t>Implement secure credential login, distinguishing Requester, Support Agent, and Administrator permission levels.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🚀 Automated Notification Engine: </a:t>
            </a:r>
            <a:r>
              <a:rPr b="0">
                <a:solidFill>
                  <a:srgbClr val="64748B"/>
                </a:solidFill>
              </a:rPr>
              <a:t>Integrate automated email / SMS alerts to requesters upon ticket creation, assignment, and resolution.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🚀 SLA Tracking &amp; Escalations: </a:t>
            </a:r>
            <a:r>
              <a:rPr b="0">
                <a:solidFill>
                  <a:srgbClr val="64748B"/>
                </a:solidFill>
              </a:rPr>
              <a:t>Introduce Service Level Agreement (SLA) countdown timers that auto-escalate breached tickets to senior leads.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Thank You! Questions &amp; Discussion Welcome.</a:t>
            </a:r>
          </a:p>
          <a:p>
            <a:pPr algn="ctr">
              <a:defRPr sz="1100">
                <a:solidFill>
                  <a:srgbClr val="E2E8F0"/>
                </a:solidFill>
              </a:defRPr>
            </a:pPr>
            <a:r>
              <a:t>ShadowDesk – Internal Helpdesk System | Developed by Anurag Acharya (JECRC University, CSE)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